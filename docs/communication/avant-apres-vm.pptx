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5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rgbClr val="8FB0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AVD —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2468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AU PROPRE DU SERVEUR DE PRODUCTION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880360"/>
            <a:ext cx="110944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prototype à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infrastructure de production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Compte-rendu exécutif de la session du 27 avril 2026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5943600"/>
            <a:ext cx="1097280" cy="0"/>
          </a:xfrm>
          <a:prstGeom prst="line">
            <a:avLst/>
          </a:prstGeom>
          <a:noFill/>
          <a:ln w="12700">
            <a:solidFill>
              <a:srgbClr val="8FB0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035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Acreed  ·  Gouvernance interne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B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Acreed IA Solutions / Acreed Consulting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FB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UNE PHRASE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serveur est prêt à accueillir les premiers clients payants.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1148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743200"/>
            <a:ext cx="3515258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743200"/>
            <a:ext cx="73152" cy="2377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017520"/>
            <a:ext cx="314949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777240" y="425196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461772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réorganisées sans interruption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38218" y="2743200"/>
            <a:ext cx="3515258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38218" y="2743200"/>
            <a:ext cx="73152" cy="2377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66818" y="3017520"/>
            <a:ext cx="314949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4566818" y="425196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publiques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66818" y="461772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en réponse 200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27797" y="2743200"/>
            <a:ext cx="3515258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27797" y="2743200"/>
            <a:ext cx="73152" cy="2377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56397" y="3017520"/>
            <a:ext cx="314949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6400" dirty="0"/>
          </a:p>
        </p:txBody>
      </p:sp>
      <p:sp>
        <p:nvSpPr>
          <p:cNvPr id="18" name="Text 16"/>
          <p:cNvSpPr/>
          <p:nvPr/>
        </p:nvSpPr>
        <p:spPr>
          <a:xfrm>
            <a:off x="8356397" y="425196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 perdue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56397" y="461772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malgré 11 incidents traités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486400"/>
            <a:ext cx="11094415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5321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signature d'un premier contrat ConceptManager peut être préparée sans contrainte technique liée à l'infrastructure.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Acreed IA Solutions  ·  AVD-01  ·  27 avril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271455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FB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Quatre risques rendaient l'état précédent intenable.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1148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48840"/>
            <a:ext cx="5364328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48840"/>
            <a:ext cx="73152" cy="1874520"/>
          </a:xfrm>
          <a:prstGeom prst="rect">
            <a:avLst/>
          </a:prstGeom>
          <a:solidFill>
            <a:srgbClr val="B0203D"/>
          </a:solidFill>
          <a:ln w="12700">
            <a:solidFill>
              <a:srgbClr val="B020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77440"/>
            <a:ext cx="490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JURIDIQUE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Blocage commercial B2B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4907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client professionnel ne signe un DPA si dev et prod partagent l'infra. Point de blocage immédiat dans toute négociation contractuelle.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8728" y="2148840"/>
            <a:ext cx="5364328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78728" y="2148840"/>
            <a:ext cx="73152" cy="1874520"/>
          </a:xfrm>
          <a:prstGeom prst="rect">
            <a:avLst/>
          </a:prstGeom>
          <a:solidFill>
            <a:srgbClr val="C77A1A"/>
          </a:solidFill>
          <a:ln w="12700">
            <a:solidFill>
              <a:srgbClr val="C77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53048" y="2377440"/>
            <a:ext cx="490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7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OPÉRATIONNEL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53048" y="269748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 de bord en production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53048" y="3200400"/>
            <a:ext cx="4907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isolation, une mauvaise commande sur un projet de test pouvait techniquement interrompre un service en production utilisé par les consultants.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389120"/>
            <a:ext cx="5364328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389120"/>
            <a:ext cx="73152" cy="1874520"/>
          </a:xfrm>
          <a:prstGeom prst="rect">
            <a:avLst/>
          </a:prstGeom>
          <a:solidFill>
            <a:srgbClr val="B0203D"/>
          </a:solidFill>
          <a:ln w="12700">
            <a:solidFill>
              <a:srgbClr val="B020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617720"/>
            <a:ext cx="490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0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" y="493776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et surface d'attaque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2960" y="5440680"/>
            <a:ext cx="4907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Clés API en clair dans des fichiers de configuration, bases exposées sur des ports publics inutiles, fragments de projets abandonnés conservés.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78728" y="4389120"/>
            <a:ext cx="5364328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78728" y="4389120"/>
            <a:ext cx="73152" cy="1874520"/>
          </a:xfrm>
          <a:prstGeom prst="rect">
            <a:avLst/>
          </a:prstGeom>
          <a:solidFill>
            <a:srgbClr val="C77A1A"/>
          </a:solidFill>
          <a:ln w="12700">
            <a:solidFill>
              <a:srgbClr val="C77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53048" y="4617720"/>
            <a:ext cx="490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7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HUMAIN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53048" y="493776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 à la mémoire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553048" y="5440680"/>
            <a:ext cx="4907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documentation utilisable. La connaissance du serveur reposait sur la mémoire de ceux qui l'avaient construit, sans transmission possible.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Acreed IA Solutions  ·  AVD-01  ·  27 avril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271455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FB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environnement de prototypage hérité, dispersé.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1148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945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B02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108960" y="23317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dispersées dans 5 emplacements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B02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108960" y="32004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entre dev et production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931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B02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108960" y="40690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utilisable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4800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02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~900 Mo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108960" y="49377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code mort conservé « au cas où »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595360" y="2194560"/>
            <a:ext cx="310896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Emplacements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778240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/opt/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0" y="2834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778240" y="3474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/home/kierangauthier/...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0" y="3474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778240" y="4114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/home/azureuser/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72800" y="4114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778240" y="4754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/srv/prod/ (vrac)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0" y="4754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Acreed IA Solutions  ·  AVD-01  ·  27 avril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271455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FB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arborescence canonique en trois zones.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1148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94560"/>
            <a:ext cx="164592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945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/srv/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834640"/>
            <a:ext cx="0" cy="777240"/>
          </a:xfrm>
          <a:prstGeom prst="line">
            <a:avLst/>
          </a:prstGeom>
          <a:noFill/>
          <a:ln w="12700">
            <a:solidFill>
              <a:srgbClr val="8FB0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3611880"/>
            <a:ext cx="457200" cy="0"/>
          </a:xfrm>
          <a:prstGeom prst="line">
            <a:avLst/>
          </a:prstGeom>
          <a:noFill/>
          <a:ln w="12700">
            <a:solidFill>
              <a:srgbClr val="8FB0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3291840"/>
            <a:ext cx="146304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32918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prod/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17520" y="32918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de production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2834640"/>
            <a:ext cx="0" cy="1600200"/>
          </a:xfrm>
          <a:prstGeom prst="line">
            <a:avLst/>
          </a:prstGeom>
          <a:noFill/>
          <a:ln w="12700">
            <a:solidFill>
              <a:srgbClr val="8FB0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4434840"/>
            <a:ext cx="457200" cy="0"/>
          </a:xfrm>
          <a:prstGeom prst="line">
            <a:avLst/>
          </a:prstGeom>
          <a:noFill/>
          <a:ln w="12700">
            <a:solidFill>
              <a:srgbClr val="8FB0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4114800"/>
            <a:ext cx="146304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C77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41148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77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dev/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017520" y="41148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Environnements de développement et tests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2834640"/>
            <a:ext cx="0" cy="2423160"/>
          </a:xfrm>
          <a:prstGeom prst="line">
            <a:avLst/>
          </a:prstGeom>
          <a:noFill/>
          <a:ln w="12700">
            <a:solidFill>
              <a:srgbClr val="8FB0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5257800"/>
            <a:ext cx="457200" cy="0"/>
          </a:xfrm>
          <a:prstGeom prst="line">
            <a:avLst/>
          </a:prstGeom>
          <a:noFill/>
          <a:ln w="12700">
            <a:solidFill>
              <a:srgbClr val="8FB0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71600" y="4937760"/>
            <a:ext cx="146304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71600" y="49377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claude/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017520" y="49377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de l'agent Claude (skills, mémoire, runbooks)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72400" y="2194560"/>
            <a:ext cx="393192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0" y="2377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Sous-catégories de /srv/prod/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955280" y="2880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conceptmanager/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955280" y="3200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Déploiements clients ConceptManager (vide aujourd'hui)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955280" y="3749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tools/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55280" y="40690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internes Acreed (CRM, wiki, n8n, mimir, …)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955280" y="4617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sites/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955280" y="49377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web institutionnels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955280" y="5486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astreos/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955280" y="58064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consultants Acreed Consulting (cas spécial)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Acreed IA Solutions  ·  AVD-01  ·  27 avril 2026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271455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FB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GARANTIE TECHNIQUE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Trois niveaux d'isolation entre dev et production.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1148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94560"/>
            <a:ext cx="914400" cy="914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0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Physique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28800" y="2651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Chemins distincts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2286000"/>
            <a:ext cx="7253935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286000"/>
            <a:ext cx="6888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/srv/prod/...   ≠   /srv/dev/...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383280"/>
            <a:ext cx="914400" cy="914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383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28800" y="3383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828800" y="3840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réseaux Docker isolés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89120" y="3474720"/>
            <a:ext cx="7253935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3474720"/>
            <a:ext cx="6888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acreed-prod  ·  acreed-dev  ·  acreed-tools  ·  acreed-trash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572000"/>
            <a:ext cx="914400" cy="914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572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828800" y="4572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828800" y="5029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Étiquette de catégorie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89120" y="4663440"/>
            <a:ext cx="7253935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4663440"/>
            <a:ext cx="6888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acreed.env=prod   ≠   acreed.env=dev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opération sur dev ne peut techniquement plus affecter la production. C'est la garantie minimale qu'un client B2B attend avant de signer.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Acreed IA Solutions  ·  AVD-01  ·  27 avril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271455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FB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slug détermine tout. Aucune décision arbitraire.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1148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24248" y="2194560"/>
            <a:ext cx="27432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24248" y="2194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dupont-sas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724248" y="2651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(slug client futur)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3545738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703320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4023360"/>
            <a:ext cx="317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/srv/prod/conceptmanager/dupont-sas/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22978" y="3520440"/>
            <a:ext cx="3545738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05858" y="3703320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PUBLIQUE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05858" y="4023360"/>
            <a:ext cx="317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dupont-sas.acreediasolutions.com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97317" y="3520440"/>
            <a:ext cx="3545738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80197" y="3703320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DOCKER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80197" y="4023360"/>
            <a:ext cx="317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acreed-prod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892040"/>
            <a:ext cx="3545738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074920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5394960"/>
            <a:ext cx="317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cm-dupont-sas-{frontend, api, db, minio}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22978" y="4892040"/>
            <a:ext cx="3545738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05858" y="5074920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DB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05858" y="5394960"/>
            <a:ext cx="317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concept_dupont_sas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97317" y="4892040"/>
            <a:ext cx="3545738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80197" y="5074920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80197" y="5394960"/>
            <a:ext cx="317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cm-dupont-sas-{pgdata, uploads}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95848" y="3063240"/>
            <a:ext cx="0" cy="457200"/>
          </a:xfrm>
          <a:prstGeom prst="line">
            <a:avLst/>
          </a:prstGeom>
          <a:noFill/>
          <a:ln w="12700">
            <a:solidFill>
              <a:srgbClr val="8FB0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Acreed IA Solutions  ·  AVD-01  ·  27 avril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271455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FB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PRODUITE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Cinq documents pour rendre l'équipe transmissible.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1148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94560"/>
            <a:ext cx="11094415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194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34440" y="2194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34840" y="2194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12280" y="2194560"/>
            <a:ext cx="4693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11094415" cy="640080"/>
          </a:xfrm>
          <a:prstGeom prst="rect">
            <a:avLst/>
          </a:prstGeom>
          <a:solidFill>
            <a:srgbClr val="F7F8FB"/>
          </a:solidFill>
          <a:ln w="3175">
            <a:solidFill>
              <a:srgbClr val="DDE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65176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34440" y="26517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 /srv/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34840" y="2651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12280" y="2651760"/>
            <a:ext cx="46936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canonique d'organisation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291840"/>
            <a:ext cx="11094415" cy="640080"/>
          </a:xfrm>
          <a:prstGeom prst="rect">
            <a:avLst/>
          </a:prstGeom>
          <a:solidFill>
            <a:srgbClr val="FFFFFF"/>
          </a:solidFill>
          <a:ln w="3175">
            <a:solidFill>
              <a:srgbClr val="DDE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29184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34440" y="32918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Arborescence du serveur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34840" y="32918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intervenant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12280" y="3291840"/>
            <a:ext cx="46936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à jour de « où est quoi »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11094415" cy="640080"/>
          </a:xfrm>
          <a:prstGeom prst="rect">
            <a:avLst/>
          </a:prstGeom>
          <a:solidFill>
            <a:srgbClr val="F7F8FB"/>
          </a:solidFill>
          <a:ln w="3175">
            <a:solidFill>
              <a:srgbClr val="DDE3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93192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34440" y="39319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d'incidents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34840" y="3931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Claude futur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12280" y="3931920"/>
            <a:ext cx="46936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éviter les pièges déjà rencontrés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572000"/>
            <a:ext cx="11094415" cy="640080"/>
          </a:xfrm>
          <a:prstGeom prst="rect">
            <a:avLst/>
          </a:prstGeom>
          <a:solidFill>
            <a:srgbClr val="FFFFFF"/>
          </a:solidFill>
          <a:ln w="3175">
            <a:solidFill>
              <a:srgbClr val="DDE3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57200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34440" y="45720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Compte-rendu et REX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434840" y="45720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12280" y="4572000"/>
            <a:ext cx="46936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de l'intervention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5212080"/>
            <a:ext cx="11094415" cy="640080"/>
          </a:xfrm>
          <a:prstGeom prst="rect">
            <a:avLst/>
          </a:prstGeom>
          <a:solidFill>
            <a:srgbClr val="F7F8FB"/>
          </a:solidFill>
          <a:ln w="3175">
            <a:solidFill>
              <a:srgbClr val="DDE3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521208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234440" y="52120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de prise en main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434840" y="52120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 dev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12280" y="5212080"/>
            <a:ext cx="46936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commencer à travailler sur le serveur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développeur senior arrivant sur le serveur peut devenir opérationnel en quelques heures, sans dépendre de la mémoire d'un autre.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Acreed IA Solutions  ·  AVD-01  ·  27 avril 2026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271455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FB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DÉPASSEMENT DE BUDGET TEMPS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heures au lieu de 4 — pourquoi, et ce qu'on a évité.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1148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945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A64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h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prévues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0" y="22860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8FB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377440" y="21945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h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377440" y="2971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réelles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603504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77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56616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7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incidents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77240" y="395020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pièges techniques hérités, divergences entre la doc et l'état réel, comportements non documentés de Docker.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6634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APPLIQUÉE À CHAQUE INCIDENT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5029200"/>
            <a:ext cx="228600" cy="2286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50292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68680" y="499262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avant dégât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5321808"/>
            <a:ext cx="228600" cy="2286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532180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68680" y="528523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immédiat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614416"/>
            <a:ext cx="228600" cy="2286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61441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68680" y="557784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en lecture seule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5907024"/>
            <a:ext cx="228600" cy="2286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590702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68680" y="587044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Filet (tgz + dump chiffré)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703320" y="5029200"/>
            <a:ext cx="228600" cy="2286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03320" y="50292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023360" y="499262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validée par Kieran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703320" y="5321808"/>
            <a:ext cx="228600" cy="2286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03320" y="532180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023360" y="528523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ciblée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703320" y="5614416"/>
            <a:ext cx="228600" cy="2286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03320" y="561441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023360" y="557784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par mesure (compteur DB)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949440" y="2194560"/>
            <a:ext cx="4693615" cy="4023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0" y="2468880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2743200"/>
            <a:ext cx="39620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9000" dirty="0"/>
          </a:p>
        </p:txBody>
      </p:sp>
      <p:sp>
        <p:nvSpPr>
          <p:cNvPr id="38" name="Text 36"/>
          <p:cNvSpPr/>
          <p:nvPr/>
        </p:nvSpPr>
        <p:spPr>
          <a:xfrm>
            <a:off x="7315200" y="3977640"/>
            <a:ext cx="3962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 de donnée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7315200" y="4526280"/>
            <a:ext cx="3962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L'incident le plus sérieux concernait les données de mimir — un comportement de Docker rendant les bases silencieusement invisibles après déplacement de dossier.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315200" y="5486400"/>
            <a:ext cx="3962095" cy="0"/>
          </a:xfrm>
          <a:prstGeom prst="line">
            <a:avLst/>
          </a:prstGeom>
          <a:noFill/>
          <a:ln w="6350">
            <a:solidFill>
              <a:srgbClr val="8FB0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5532120"/>
            <a:ext cx="3962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2 h supplémentaires sont la prime d'assurance payée pour ne pas avoir perdu ces données. Chaque incident fait l'objet d'une note de leçon apprise.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Acreed IA Solutions  ·  AVD-01  ·  27 avril 2026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271455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FB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 À FAIRE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dettes mineures, planifiées, aucune bloquante.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1148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94560"/>
            <a:ext cx="11094415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194560"/>
            <a:ext cx="5827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787728" y="2194560"/>
            <a:ext cx="21664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Échéance proposée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228500" y="2194560"/>
            <a:ext cx="22773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actuel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11094415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DDE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651760"/>
            <a:ext cx="5827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de deux secrets exposés en session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787728" y="2651760"/>
            <a:ext cx="21664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semaine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228500" y="2770632"/>
            <a:ext cx="1463040" cy="274320"/>
          </a:xfrm>
          <a:prstGeom prst="rect">
            <a:avLst/>
          </a:prstGeom>
          <a:solidFill>
            <a:srgbClr val="2E7D5C"/>
          </a:solidFill>
          <a:ln w="12700">
            <a:solidFill>
              <a:srgbClr val="2E7D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28500" y="27706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11094415" cy="502920"/>
          </a:xfrm>
          <a:prstGeom prst="rect">
            <a:avLst/>
          </a:prstGeom>
          <a:solidFill>
            <a:srgbClr val="F7F8FB"/>
          </a:solidFill>
          <a:ln w="3175">
            <a:solidFill>
              <a:srgbClr val="DDE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154680"/>
            <a:ext cx="5827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Pare-feu plus strict (durcissement secrets)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787728" y="3154680"/>
            <a:ext cx="21664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semaines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28500" y="3273552"/>
            <a:ext cx="1463040" cy="274320"/>
          </a:xfrm>
          <a:prstGeom prst="rect">
            <a:avLst/>
          </a:prstGeom>
          <a:solidFill>
            <a:srgbClr val="C77A1A"/>
          </a:solidFill>
          <a:ln w="12700">
            <a:solidFill>
              <a:srgbClr val="C77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28500" y="32735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3657600"/>
            <a:ext cx="11094415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DDE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657600"/>
            <a:ext cx="5827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d'un ancien secret Supabase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787728" y="3657600"/>
            <a:ext cx="21664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3-5 h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228500" y="3776472"/>
            <a:ext cx="1463040" cy="274320"/>
          </a:xfrm>
          <a:prstGeom prst="rect">
            <a:avLst/>
          </a:prstGeom>
          <a:solidFill>
            <a:srgbClr val="2E7D5C"/>
          </a:solidFill>
          <a:ln w="12700">
            <a:solidFill>
              <a:srgbClr val="2E7D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28500" y="3776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4160520"/>
            <a:ext cx="11094415" cy="502920"/>
          </a:xfrm>
          <a:prstGeom prst="rect">
            <a:avLst/>
          </a:prstGeom>
          <a:solidFill>
            <a:srgbClr val="F7F8FB"/>
          </a:solidFill>
          <a:ln w="3175">
            <a:solidFill>
              <a:srgbClr val="DDE3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160520"/>
            <a:ext cx="5827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(alertes proactives)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787728" y="4160520"/>
            <a:ext cx="21664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h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228500" y="4279392"/>
            <a:ext cx="1463040" cy="274320"/>
          </a:xfrm>
          <a:prstGeom prst="rect">
            <a:avLst/>
          </a:prstGeom>
          <a:solidFill>
            <a:srgbClr val="5A6478"/>
          </a:solidFill>
          <a:ln w="12700">
            <a:solidFill>
              <a:srgbClr val="5A647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28500" y="4279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urgence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" y="4663440"/>
            <a:ext cx="11094415" cy="502920"/>
          </a:xfrm>
          <a:prstGeom prst="rect">
            <a:avLst/>
          </a:prstGeom>
          <a:solidFill>
            <a:srgbClr val="FFFFFF"/>
          </a:solidFill>
          <a:ln w="3175">
            <a:solidFill>
              <a:srgbClr val="DDE3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663440"/>
            <a:ext cx="5827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Sauvegardes hors-site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787728" y="4663440"/>
            <a:ext cx="21664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h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228500" y="4782312"/>
            <a:ext cx="1463040" cy="274320"/>
          </a:xfrm>
          <a:prstGeom prst="rect">
            <a:avLst/>
          </a:prstGeom>
          <a:solidFill>
            <a:srgbClr val="C77A1A"/>
          </a:solidFill>
          <a:ln w="12700">
            <a:solidFill>
              <a:srgbClr val="C77A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28500" y="47823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planifier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" y="5166360"/>
            <a:ext cx="11094415" cy="502920"/>
          </a:xfrm>
          <a:prstGeom prst="rect">
            <a:avLst/>
          </a:prstGeom>
          <a:solidFill>
            <a:srgbClr val="F7F8FB"/>
          </a:solidFill>
          <a:ln w="3175">
            <a:solidFill>
              <a:srgbClr val="DDE3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5166360"/>
            <a:ext cx="5827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de test pour automatismes Claude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787728" y="5166360"/>
            <a:ext cx="21664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h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228500" y="5285232"/>
            <a:ext cx="1463040" cy="274320"/>
          </a:xfrm>
          <a:prstGeom prst="rect">
            <a:avLst/>
          </a:prstGeom>
          <a:solidFill>
            <a:srgbClr val="5A6478"/>
          </a:solidFill>
          <a:ln w="12700">
            <a:solidFill>
              <a:srgbClr val="5A647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228500" y="52852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urgence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ces tâches sont documentées et priorisées. Aucune n'est bloquante pour la signature des premiers clients.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6350">
            <a:solidFill>
              <a:srgbClr val="DDE3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Acreed IA Solutions  ·  AVD-01  ·  27 avril 2026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271455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5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8FB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EXÉCUTIVE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AVD-01 est désormais conforme aux pratiques attendues d'un hébergement de production.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518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applications réorganisées physiquement et logiquement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749040"/>
            <a:ext cx="518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dev / prod garantie à 3 niveaux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4297680"/>
            <a:ext cx="518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 Mo de code mort et services obsolètes éliminés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78728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44488" y="3200400"/>
            <a:ext cx="518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documentée pour onboarding rapide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78728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44488" y="3749040"/>
            <a:ext cx="518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mimir récupérées sans perte (Docker subtil)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78728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44488" y="4297680"/>
            <a:ext cx="518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Mémoire de leçons apprises pour les futures sessions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486400"/>
            <a:ext cx="11094415" cy="8229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48640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signature d'un premier contrat ConceptManager peut être préparée sans contrainte technique liée à l'infrastructure.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271455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AVD-01 — Mise au propre du serveur</dc:title>
  <dc:subject>PptxGenJS Presentation</dc:subject>
  <dc:creator>Acreed IA Solutions</dc:creator>
  <cp:lastModifiedBy>Acreed IA Solutions</cp:lastModifiedBy>
  <cp:revision>1</cp:revision>
  <dcterms:created xsi:type="dcterms:W3CDTF">2026-04-27T15:10:25Z</dcterms:created>
  <dcterms:modified xsi:type="dcterms:W3CDTF">2026-04-27T15:10:25Z</dcterms:modified>
</cp:coreProperties>
</file>